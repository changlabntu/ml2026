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2"/>
    <p:sldId id="28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50"/>
    <p:restoredTop sz="94675"/>
  </p:normalViewPr>
  <p:slideViewPr>
    <p:cSldViewPr snapToGrid="0">
      <p:cViewPr varScale="1">
        <p:scale>
          <a:sx n="119" d="100"/>
          <a:sy n="119" d="100"/>
        </p:scale>
        <p:origin x="14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4D7EA-0B6B-4951-8D17-9B55CA236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AB4A21-8BB0-CCD6-B5DA-2A95E9AE0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2C753-C560-D982-D7E9-D36926609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F6470-1DE9-CF49-8D74-7172A2B730C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420B8-FC95-9CC9-5C48-C47B93551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3A109-1BCE-0BF1-52C7-7AA8A949A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E41ED-5347-B548-B244-C597D92F7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31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3B50C-F332-57BD-606A-8E68A76BC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33168-6E52-B3AC-D596-AA2347EBF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24E82-38D1-0E63-A74C-8D49AAE3E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F6470-1DE9-CF49-8D74-7172A2B730C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2CD45-985F-2944-012B-6AD403F8B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A0F5D-35B0-22FA-BC08-6CECA2F7C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E41ED-5347-B548-B244-C597D92F7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85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D773-20F2-FFC8-17F0-6F357BF60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A6A5D-694B-5A0B-0A54-81AC67E47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7D12D-6154-35B2-8F4C-6B81C20AC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F6470-1DE9-CF49-8D74-7172A2B730C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28FBA-3EF9-5B26-66DA-7325B4613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20523-6D5A-385A-50DB-C10EF7FDC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E41ED-5347-B548-B244-C597D92F7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48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285EA-1266-5883-0CDE-134FE996C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54FC0-2699-687B-A00D-50EE1BE24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4623E3-FE0A-1F6D-F342-DC087A72A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AF78E1-556A-B9DF-B9AB-D45DCA5CC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F6470-1DE9-CF49-8D74-7172A2B730C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D6E3D-390D-8F20-DBD2-14EE8B73A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C96FC-FEB3-6A1A-F8A8-6E3EA4AF4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E41ED-5347-B548-B244-C597D92F7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400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01DE5-D415-666E-E0E9-CCC72035F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1EC26-2750-0D71-0DFE-267444E5F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1645C-BD4E-F378-580D-585EC7A92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8F9A1-539E-C9A7-BA1C-8FD7C9F880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25ADFF-9C2A-FAD9-AF61-AB02585E2F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0F952F-728B-B5CC-C877-F7A1D965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F6470-1DE9-CF49-8D74-7172A2B730C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93F3D7-3586-B6CE-F814-DF5A1DA2B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97D07-7A82-297D-691C-6BF1258E1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E41ED-5347-B548-B244-C597D92F7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23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3AF-1B7F-61D4-501C-3FDABAC79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C5A65-8A82-8C8C-9C58-280668A1D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F6470-1DE9-CF49-8D74-7172A2B730C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CEEFDB-5AB6-A7CD-2386-E36ADBE28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195077-4EF5-A0D0-BDA6-4B2937ACC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E41ED-5347-B548-B244-C597D92F7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79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EC0647-EEEA-A519-9719-E6B88183F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F6470-1DE9-CF49-8D74-7172A2B730C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ECD9F8-BF34-FFC8-2F35-417521580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9C2B2-F5EB-9941-EE50-499C548AF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E41ED-5347-B548-B244-C597D92F7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23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8D53B-2785-5846-E019-54C6FE93D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73B84-6D10-8310-4B62-279138965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CD807-DC6B-2216-4E5D-1C42D2670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2CA1-BDA1-659D-C320-EF17F4CC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F6470-1DE9-CF49-8D74-7172A2B730C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A799B-A924-2C9E-5AB9-F90B7AA2A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6A147-82FE-A6B0-6B98-D7E70CB3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E41ED-5347-B548-B244-C597D92F7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80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BCF5E-E6F9-5DD9-1E1E-544783614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CAF0ED-6CB2-0E2D-EE90-11B3F4C396D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E3846-D6A6-E0A0-672B-8543F380E6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606CC-7C87-AEDF-1A5A-21D34DC0D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F6470-1DE9-CF49-8D74-7172A2B730C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B0660-EAD1-C199-B3A7-3927BA3BB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FF2A9-DD95-2793-D8B5-3C07354C0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E41ED-5347-B548-B244-C597D92F7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5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FF3A3-0A85-C594-B168-9CFAA2B57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83A918-EF38-70BC-FC9D-2A995AAB2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FA892-91F9-52B1-8060-DD5D19FD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F6470-1DE9-CF49-8D74-7172A2B730C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77BA3-C8F8-7CEC-7B9E-F583EBDCA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EF7A7-5EA2-09B7-DE3E-9C64677C9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E41ED-5347-B548-B244-C597D92F7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19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EDCF16-BFA8-513C-A64A-3938C92C84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7AB55-A378-E73A-A695-AA650B9E44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03CF7-3E1A-5075-6D59-3353A20F5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F6470-1DE9-CF49-8D74-7172A2B730C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6B0ED-53DC-CCAC-A804-D5BF69BAC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FDB4D-27E4-0C7C-996D-C73621ED8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E41ED-5347-B548-B244-C597D92F7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89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3E9C44-BC54-6C1B-037B-88CA6C81B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76D55-CE14-6C38-C2D8-9E017DCD7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C4DB0-6DD4-976E-113B-1E4818234F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F6470-1DE9-CF49-8D74-7172A2B730C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86421-004B-26D2-CB79-2E2ABCE571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97FA-A871-D3DC-2165-0EB6E66C2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AE41ED-5347-B548-B244-C597D92F7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50800"/>
            <a:ext cx="11887200" cy="304800"/>
          </a:xfrm>
        </p:spPr>
        <p:txBody>
          <a:bodyPr lIns="0" tIns="0" rIns="0" bIns="0" anchor="ctr">
            <a:normAutofit/>
          </a:bodyPr>
          <a:lstStyle/>
          <a:p>
            <a:r>
              <a:rPr lang="en-US" sz="1800" dirty="0"/>
              <a:t>Anchor paper worksheet (1 of 2)</a:t>
            </a:r>
          </a:p>
        </p:txBody>
      </p:sp>
      <p:sp>
        <p:nvSpPr>
          <p:cNvPr id="10" name="Step badge 1"/>
          <p:cNvSpPr/>
          <p:nvPr/>
        </p:nvSpPr>
        <p:spPr>
          <a:xfrm>
            <a:off x="152400" y="406400"/>
            <a:ext cx="203200" cy="20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Step 1 heading"/>
          <p:cNvSpPr txBox="1"/>
          <p:nvPr/>
        </p:nvSpPr>
        <p:spPr>
          <a:xfrm>
            <a:off x="431800" y="406400"/>
            <a:ext cx="1143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1"/>
                </a:solidFill>
              </a:rPr>
              <a:t>Pick ONE anchor paper</a:t>
            </a:r>
          </a:p>
        </p:txBody>
      </p:sp>
      <p:sp>
        <p:nvSpPr>
          <p:cNvPr id="12" name="Step 1 criteria left"/>
          <p:cNvSpPr txBox="1"/>
          <p:nvPr/>
        </p:nvSpPr>
        <p:spPr>
          <a:xfrm>
            <a:off x="152400" y="660400"/>
            <a:ext cx="584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14300" indent="-114300" algn="l">
              <a:spcBef>
                <a:spcPts val="200"/>
              </a:spcBef>
              <a:buFont typeface="Arial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Related to your group's research topic: a biomedical problem plus machine learning</a:t>
            </a:r>
          </a:p>
          <a:p>
            <a:pPr marL="114300" indent="-114300" algn="l">
              <a:spcBef>
                <a:spcPts val="200"/>
              </a:spcBef>
              <a:buFont typeface="Arial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Peer-reviewed, last 5 years; cite the published version, not the preprint</a:t>
            </a:r>
          </a:p>
        </p:txBody>
      </p:sp>
      <p:sp>
        <p:nvSpPr>
          <p:cNvPr id="13" name="Step 1 criteria right"/>
          <p:cNvSpPr txBox="1"/>
          <p:nvPr/>
        </p:nvSpPr>
        <p:spPr>
          <a:xfrm>
            <a:off x="6197600" y="660400"/>
            <a:ext cx="584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14300" indent="-114300" algn="l">
              <a:spcBef>
                <a:spcPts val="200"/>
              </a:spcBef>
              <a:buFont typeface="Arial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Not a review</a:t>
            </a:r>
          </a:p>
          <a:p>
            <a:pPr marL="114300" indent="-114300" algn="l">
              <a:spcBef>
                <a:spcPts val="200"/>
              </a:spcBef>
              <a:buFont typeface="Arial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Not from </a:t>
            </a:r>
            <a:r>
              <a:rPr lang="en-US" sz="1100" i="1" dirty="0">
                <a:solidFill>
                  <a:schemeClr val="bg1">
                    <a:lumMod val="75000"/>
                  </a:schemeClr>
                </a:solidFill>
              </a:rPr>
              <a:t>[excluded venues]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en-US" sz="1100" i="1" dirty="0">
                <a:solidFill>
                  <a:schemeClr val="bg1">
                    <a:lumMod val="75000"/>
                  </a:schemeClr>
                </a:solidFill>
              </a:rPr>
              <a:t>[one-line why]</a:t>
            </a:r>
          </a:p>
          <a:p>
            <a:pPr marL="114300" indent="-114300" algn="l">
              <a:spcBef>
                <a:spcPts val="200"/>
              </a:spcBef>
              <a:buFont typeface="Arial"/>
              <a:buChar char="•"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Search PubMed, Scholar, WoS or the LLM helper</a:t>
            </a:r>
          </a:p>
        </p:txBody>
      </p:sp>
      <p:sp>
        <p:nvSpPr>
          <p:cNvPr id="14" name="Step badge 2"/>
          <p:cNvSpPr/>
          <p:nvPr/>
        </p:nvSpPr>
        <p:spPr>
          <a:xfrm>
            <a:off x="152400" y="1397000"/>
            <a:ext cx="203200" cy="20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Step badge 3"/>
          <p:cNvSpPr/>
          <p:nvPr/>
        </p:nvSpPr>
        <p:spPr>
          <a:xfrm>
            <a:off x="406400" y="1397000"/>
            <a:ext cx="203200" cy="20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Step 2-3 heading"/>
          <p:cNvSpPr txBox="1"/>
          <p:nvPr/>
        </p:nvSpPr>
        <p:spPr>
          <a:xfrm>
            <a:off x="685800" y="1397000"/>
            <a:ext cx="11353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1"/>
                </a:solidFill>
              </a:rPr>
              <a:t>Formulate the ML problem, find two more papers</a:t>
            </a:r>
          </a:p>
        </p:txBody>
      </p:sp>
      <p:sp>
        <p:nvSpPr>
          <p:cNvPr id="17" name="Step 2-3 note"/>
          <p:cNvSpPr txBox="1"/>
          <p:nvPr/>
        </p:nvSpPr>
        <p:spPr>
          <a:xfrm>
            <a:off x="152400" y="1625600"/>
            <a:ext cx="118872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A8189"/>
                </a:solidFill>
              </a:rPr>
              <a:t>Ignore the model: use the abstract and Fig. 1. Papers 2 and 3 need the same input and output; disease, data source and model may differ.</a:t>
            </a:r>
          </a:p>
        </p:txBody>
      </p:sp>
      <p:graphicFrame>
        <p:nvGraphicFramePr>
          <p:cNvPr id="18" name="Formulation table"/>
          <p:cNvGraphicFramePr>
            <a:graphicFrameLocks noGrp="1"/>
          </p:cNvGraphicFramePr>
          <p:nvPr/>
        </p:nvGraphicFramePr>
        <p:xfrm>
          <a:off x="152400" y="1854200"/>
          <a:ext cx="11887200" cy="497332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50800" marR="38100" marT="25400" marB="254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B7A7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Anchor paper (P1)</a:t>
                      </a:r>
                    </a:p>
                  </a:txBody>
                  <a:tcPr marL="50800" marR="38100" marT="25400" marB="254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B7A7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Paper P2</a:t>
                      </a:r>
                    </a:p>
                  </a:txBody>
                  <a:tcPr marL="50800" marR="38100" marT="25400" marB="254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B7A7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Paper P3</a:t>
                      </a:r>
                    </a:p>
                  </a:txBody>
                  <a:tcPr marL="50800" marR="38100" marT="25400" marB="254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B7A7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Citation</a:t>
                      </a:r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15875" cap="flat" cmpd="sng" algn="ctr">
                      <a:solidFill>
                        <a:srgbClr val="0B7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7A8189"/>
                          </a:solidFill>
                        </a:rPr>
                        <a:t>authors, title, venue, year</a:t>
                      </a:r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15875" cap="flat" cmpd="sng" algn="ctr">
                      <a:solidFill>
                        <a:srgbClr val="0B7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15875" cap="flat" cmpd="sng" algn="ctr">
                      <a:solidFill>
                        <a:srgbClr val="0B7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15875" cap="flat" cmpd="sng" algn="ctr">
                      <a:solidFill>
                        <a:srgbClr val="0B7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Input</a:t>
                      </a:r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7A8189"/>
                          </a:solidFill>
                        </a:rPr>
                        <a:t>image, text, signal, table, graph</a:t>
                      </a:r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7A8189"/>
                          </a:solidFill>
                        </a:rPr>
                        <a:t>class, value, labeled pixels, text</a:t>
                      </a:r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Metric</a:t>
                      </a:r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7A8189"/>
                          </a:solidFill>
                        </a:rPr>
                        <a:t>e.g. AUROC, Dice, F1</a:t>
                      </a:r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ML task</a:t>
                      </a:r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7A8189"/>
                          </a:solidFill>
                        </a:rPr>
                        <a:t>task name</a:t>
                      </a:r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64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50800"/>
            <a:ext cx="11887200" cy="304800"/>
          </a:xfrm>
        </p:spPr>
        <p:txBody>
          <a:bodyPr lIns="0" tIns="0" rIns="0" bIns="0" anchor="ctr">
            <a:normAutofit/>
          </a:bodyPr>
          <a:lstStyle/>
          <a:p>
            <a:r>
              <a:rPr lang="en-US" sz="1800" dirty="0"/>
              <a:t>Anchor paper worksheet (2 of 2)</a:t>
            </a:r>
          </a:p>
        </p:txBody>
      </p:sp>
      <p:sp>
        <p:nvSpPr>
          <p:cNvPr id="10" name="Step badge 4"/>
          <p:cNvSpPr/>
          <p:nvPr/>
        </p:nvSpPr>
        <p:spPr>
          <a:xfrm>
            <a:off x="152400" y="406400"/>
            <a:ext cx="203200" cy="20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Step 4 heading"/>
          <p:cNvSpPr txBox="1"/>
          <p:nvPr/>
        </p:nvSpPr>
        <p:spPr>
          <a:xfrm>
            <a:off x="431800" y="406400"/>
            <a:ext cx="11607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1"/>
                </a:solidFill>
              </a:rPr>
              <a:t>Name the task, find its non-biomedical counterpart  </a:t>
            </a:r>
            <a:r>
              <a:rPr lang="en-US" sz="1000" dirty="0">
                <a:solidFill>
                  <a:srgbClr val="7A8189"/>
                </a:solidFill>
              </a:rPr>
              <a:t>one paper from CVPR / NeurIPS / ICML / ACL … with the same task on non-biomedical data (arXiv is fine here)</a:t>
            </a:r>
          </a:p>
        </p:txBody>
      </p:sp>
      <p:sp>
        <p:nvSpPr>
          <p:cNvPr id="12" name="Task label"/>
          <p:cNvSpPr txBox="1"/>
          <p:nvPr/>
        </p:nvSpPr>
        <p:spPr>
          <a:xfrm>
            <a:off x="152400" y="660400"/>
            <a:ext cx="3810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Task name</a:t>
            </a:r>
          </a:p>
        </p:txBody>
      </p:sp>
      <p:sp>
        <p:nvSpPr>
          <p:cNvPr id="13" name="Task name field"/>
          <p:cNvSpPr/>
          <p:nvPr/>
        </p:nvSpPr>
        <p:spPr>
          <a:xfrm>
            <a:off x="152400" y="838200"/>
            <a:ext cx="38100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2"/>
            </a:solidFill>
          </a:ln>
        </p:spPr>
        <p:txBody>
          <a:bodyPr wrap="square" lIns="50800" tIns="38100" rIns="50800" bIns="38100" anchor="t">
            <a:no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189"/>
                </a:solidFill>
              </a:rPr>
              <a:t>same task in both domains</a:t>
            </a:r>
          </a:p>
        </p:txBody>
      </p:sp>
      <p:sp>
        <p:nvSpPr>
          <p:cNvPr id="14" name="Paper label"/>
          <p:cNvSpPr txBox="1"/>
          <p:nvPr/>
        </p:nvSpPr>
        <p:spPr>
          <a:xfrm>
            <a:off x="4089400" y="660400"/>
            <a:ext cx="79502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Non-biomedical paper</a:t>
            </a:r>
          </a:p>
        </p:txBody>
      </p:sp>
      <p:sp>
        <p:nvSpPr>
          <p:cNvPr id="15" name="Counterpart paper field"/>
          <p:cNvSpPr/>
          <p:nvPr/>
        </p:nvSpPr>
        <p:spPr>
          <a:xfrm>
            <a:off x="4089400" y="838200"/>
            <a:ext cx="79502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2"/>
            </a:solidFill>
          </a:ln>
        </p:spPr>
        <p:txBody>
          <a:bodyPr wrap="square" lIns="50800" tIns="38100" rIns="50800" bIns="38100" anchor="t">
            <a:no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189"/>
                </a:solidFill>
              </a:rPr>
              <a:t>authors, title, venue, year</a:t>
            </a:r>
          </a:p>
        </p:txBody>
      </p:sp>
      <p:sp>
        <p:nvSpPr>
          <p:cNvPr id="16" name="Step badge 5"/>
          <p:cNvSpPr/>
          <p:nvPr/>
        </p:nvSpPr>
        <p:spPr>
          <a:xfrm>
            <a:off x="152400" y="1498600"/>
            <a:ext cx="203200" cy="20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Step 5 heading"/>
          <p:cNvSpPr txBox="1"/>
          <p:nvPr/>
        </p:nvSpPr>
        <p:spPr>
          <a:xfrm>
            <a:off x="431800" y="1498600"/>
            <a:ext cx="11607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1"/>
                </a:solidFill>
              </a:rPr>
              <a:t>Compare the three papers  </a:t>
            </a:r>
            <a:r>
              <a:rPr lang="en-US" sz="1000" dirty="0">
                <a:solidFill>
                  <a:srgbClr val="7A8189"/>
                </a:solidFill>
              </a:rPr>
              <a:t>one phrase per cell; from the abstract, Fig. 1 and the first paragraph of the data section</a:t>
            </a:r>
          </a:p>
        </p:txBody>
      </p:sp>
      <p:graphicFrame>
        <p:nvGraphicFramePr>
          <p:cNvPr id="18" name="Comparison table"/>
          <p:cNvGraphicFramePr>
            <a:graphicFrameLocks noGrp="1"/>
          </p:cNvGraphicFramePr>
          <p:nvPr/>
        </p:nvGraphicFramePr>
        <p:xfrm>
          <a:off x="152400" y="1752600"/>
          <a:ext cx="11887200" cy="327152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50800" marR="38100" marT="25400" marB="254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B7A7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P1 (anchor)</a:t>
                      </a:r>
                    </a:p>
                  </a:txBody>
                  <a:tcPr marL="50800" marR="38100" marT="25400" marB="254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B7A7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P2</a:t>
                      </a:r>
                    </a:p>
                  </a:txBody>
                  <a:tcPr marL="50800" marR="38100" marT="25400" marB="254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B7A7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P3</a:t>
                      </a:r>
                    </a:p>
                  </a:txBody>
                  <a:tcPr marL="50800" marR="38100" marT="25400" marB="254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B7A7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Motivation</a:t>
                      </a:r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15875" cap="flat" cmpd="sng" algn="ctr">
                      <a:solidFill>
                        <a:srgbClr val="0B7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7A8189"/>
                          </a:solidFill>
                        </a:rPr>
                        <a:t>why they did it</a:t>
                      </a:r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15875" cap="flat" cmpd="sng" algn="ctr">
                      <a:solidFill>
                        <a:srgbClr val="0B7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15875" cap="flat" cmpd="sng" algn="ctr">
                      <a:solidFill>
                        <a:srgbClr val="0B7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15875" cap="flat" cmpd="sng" algn="ctr">
                      <a:solidFill>
                        <a:srgbClr val="0B7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Data</a:t>
                      </a:r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7A8189"/>
                          </a:solidFill>
                        </a:rPr>
                        <a:t>source, size, label source</a:t>
                      </a:r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Results</a:t>
                      </a:r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7A8189"/>
                          </a:solidFill>
                        </a:rPr>
                        <a:t>number + baseline</a:t>
                      </a:r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Implication</a:t>
                      </a:r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7A8189"/>
                          </a:solidFill>
                        </a:rPr>
                        <a:t>clinical / scientific</a:t>
                      </a:r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800" marR="38100" marT="25400" marB="25400">
                    <a:lnL w="9525">
                      <a:solidFill>
                        <a:srgbClr val="B8BCC2"/>
                      </a:solidFill>
                    </a:lnL>
                    <a:lnR w="9525">
                      <a:solidFill>
                        <a:srgbClr val="B8BCC2"/>
                      </a:solidFill>
                    </a:lnR>
                    <a:lnT w="9525">
                      <a:solidFill>
                        <a:srgbClr val="B8BCC2"/>
                      </a:solidFill>
                    </a:lnT>
                    <a:lnB w="9525">
                      <a:solidFill>
                        <a:srgbClr val="B8BC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Step badge 6"/>
          <p:cNvSpPr/>
          <p:nvPr/>
        </p:nvSpPr>
        <p:spPr>
          <a:xfrm>
            <a:off x="152400" y="5003800"/>
            <a:ext cx="203200" cy="20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" name="Step 6 heading"/>
          <p:cNvSpPr txBox="1"/>
          <p:nvPr/>
        </p:nvSpPr>
        <p:spPr>
          <a:xfrm>
            <a:off x="431800" y="5003800"/>
            <a:ext cx="11607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1"/>
                </a:solidFill>
              </a:rPr>
              <a:t>Summarize your pitch</a:t>
            </a:r>
          </a:p>
        </p:txBody>
      </p:sp>
      <p:sp>
        <p:nvSpPr>
          <p:cNvPr id="21" name="Pitch text"/>
          <p:cNvSpPr txBox="1"/>
          <p:nvPr/>
        </p:nvSpPr>
        <p:spPr>
          <a:xfrm>
            <a:off x="152400" y="5232400"/>
            <a:ext cx="11887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a.  </a:t>
            </a:r>
            <a:r>
              <a:rPr lang="en-US" sz="1100" dirty="0">
                <a:solidFill>
                  <a:schemeClr val="tx1"/>
                </a:solidFill>
              </a:rPr>
              <a:t>Our ML task is called </a:t>
            </a:r>
            <a:r>
              <a:rPr lang="en-US" sz="1100" i="1" dirty="0">
                <a:solidFill>
                  <a:srgbClr val="7A8189"/>
                </a:solidFill>
              </a:rPr>
              <a:t>[task name]</a:t>
            </a:r>
            <a:r>
              <a:rPr lang="en-US" sz="1100" dirty="0">
                <a:solidFill>
                  <a:schemeClr val="tx1"/>
                </a:solidFill>
              </a:rPr>
              <a:t>, we apply it to </a:t>
            </a:r>
            <a:r>
              <a:rPr lang="en-US" sz="1100" i="1" dirty="0">
                <a:solidFill>
                  <a:srgbClr val="7A8189"/>
                </a:solidFill>
              </a:rPr>
              <a:t>[INPUT]</a:t>
            </a:r>
            <a:r>
              <a:rPr lang="en-US" sz="1100" dirty="0">
                <a:solidFill>
                  <a:schemeClr val="tx1"/>
                </a:solidFill>
              </a:rPr>
              <a:t> to get </a:t>
            </a:r>
            <a:r>
              <a:rPr lang="en-US" sz="1100" i="1" dirty="0">
                <a:solidFill>
                  <a:srgbClr val="7A8189"/>
                </a:solidFill>
              </a:rPr>
              <a:t>[OUTPUT]</a:t>
            </a:r>
            <a:r>
              <a:rPr lang="en-US" sz="1100" dirty="0">
                <a:solidFill>
                  <a:schemeClr val="tx1"/>
                </a:solidFill>
              </a:rPr>
              <a:t> in order to </a:t>
            </a:r>
            <a:r>
              <a:rPr lang="en-US" sz="1100" i="1" dirty="0">
                <a:solidFill>
                  <a:srgbClr val="7A8189"/>
                </a:solidFill>
              </a:rPr>
              <a:t>[GOAL]</a:t>
            </a:r>
            <a:r>
              <a:rPr lang="en-US" sz="1100" dirty="0">
                <a:solidFill>
                  <a:schemeClr val="tx1"/>
                </a:solidFill>
              </a:rPr>
              <a:t>.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lang="en-US" sz="1100" b="1" dirty="0">
                <a:solidFill>
                  <a:schemeClr val="tx1"/>
                </a:solidFill>
              </a:rPr>
              <a:t>b.  </a:t>
            </a:r>
            <a:r>
              <a:rPr lang="en-US" sz="1100" dirty="0">
                <a:solidFill>
                  <a:schemeClr val="tx1"/>
                </a:solidFill>
              </a:rPr>
              <a:t>We propose adapting </a:t>
            </a:r>
            <a:r>
              <a:rPr lang="en-US" sz="1100" i="1" dirty="0">
                <a:solidFill>
                  <a:srgbClr val="7A8189"/>
                </a:solidFill>
              </a:rPr>
              <a:t>[NON-BIOMEDICAL PAPER from Step 4]</a:t>
            </a:r>
            <a:r>
              <a:rPr lang="en-US" sz="1100" dirty="0">
                <a:solidFill>
                  <a:schemeClr val="tx1"/>
                </a:solidFill>
              </a:rPr>
              <a:t>, because </a:t>
            </a:r>
            <a:r>
              <a:rPr lang="en-US" sz="1100" i="1" dirty="0">
                <a:solidFill>
                  <a:srgbClr val="7A8189"/>
                </a:solidFill>
              </a:rPr>
              <a:t>[WHY TRANSLATABLE: same input / output / metric / scale]</a:t>
            </a:r>
            <a:r>
              <a:rPr lang="en-US" sz="1100" dirty="0">
                <a:solidFill>
                  <a:schemeClr val="tx1"/>
                </a:solidFill>
              </a:rPr>
              <a:t> but </a:t>
            </a:r>
            <a:r>
              <a:rPr lang="en-US" sz="1100" i="1" dirty="0">
                <a:solidFill>
                  <a:srgbClr val="7A8189"/>
                </a:solidFill>
              </a:rPr>
              <a:t>[PITFALLS: pick ≥2]</a:t>
            </a:r>
            <a:r>
              <a:rPr lang="en-US" sz="1100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22" name="Pitfall 1 field"/>
          <p:cNvSpPr/>
          <p:nvPr/>
        </p:nvSpPr>
        <p:spPr>
          <a:xfrm>
            <a:off x="152400" y="5689600"/>
            <a:ext cx="5880100" cy="1041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2"/>
            </a:solidFill>
          </a:ln>
        </p:spPr>
        <p:txBody>
          <a:bodyPr wrap="square" lIns="50800" tIns="38100" rIns="50800" bIns="38100" anchor="t">
            <a:no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189"/>
                </a:solidFill>
              </a:rPr>
              <a:t>pitfall 1</a:t>
            </a:r>
          </a:p>
        </p:txBody>
      </p:sp>
      <p:sp>
        <p:nvSpPr>
          <p:cNvPr id="23" name="Pitfall 2 field"/>
          <p:cNvSpPr/>
          <p:nvPr/>
        </p:nvSpPr>
        <p:spPr>
          <a:xfrm>
            <a:off x="6159500" y="5689600"/>
            <a:ext cx="5880100" cy="1041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2"/>
            </a:solidFill>
          </a:ln>
        </p:spPr>
        <p:txBody>
          <a:bodyPr wrap="square" lIns="50800" tIns="38100" rIns="50800" bIns="38100" anchor="t">
            <a:no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189"/>
                </a:solidFill>
              </a:rPr>
              <a:t>pitfall 2</a:t>
            </a:r>
          </a:p>
        </p:txBody>
      </p:sp>
    </p:spTree>
    <p:extLst>
      <p:ext uri="{BB962C8B-B14F-4D97-AF65-F5344CB8AC3E}">
        <p14:creationId xmlns:p14="http://schemas.microsoft.com/office/powerpoint/2010/main" val="770332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</Words>
  <Application>Microsoft Macintosh PowerPoint</Application>
  <PresentationFormat>Widescreen</PresentationFormat>
  <Paragraphs>51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Anchor paper worksheet (1 of 2)</vt:lpstr>
      <vt:lpstr>Anchor paper worksheet (2 of 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張瀚</dc:creator>
  <cp:lastModifiedBy>張瀚</cp:lastModifiedBy>
  <cp:revision>1</cp:revision>
  <dcterms:created xsi:type="dcterms:W3CDTF">2026-09-30T04:34:21Z</dcterms:created>
  <dcterms:modified xsi:type="dcterms:W3CDTF">2026-09-30T04:34:49Z</dcterms:modified>
</cp:coreProperties>
</file>